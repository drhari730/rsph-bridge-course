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Overlap Analysis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49808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Public Health (MPH)</a:t>
            </a:r>
            <a:pPr indent="0" marL="0">
              <a:buNone/>
            </a:pPr>
            <a:r>
              <a:rPr lang="en-US" sz="2200" dirty="0">
                <a:solidFill>
                  <a:srgbClr val="E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Hospital Administration (MHA)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of common teaching courses, contents &amp; shared-class delivery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4892040"/>
            <a:ext cx="3200400" cy="384048"/>
          </a:xfrm>
          <a:prstGeom prst="roundRect">
            <a:avLst>
              <a:gd name="adj" fmla="val 28571"/>
            </a:avLst>
          </a:prstGeom>
          <a:solidFill>
            <a:srgbClr val="A81E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2022  ·  Codes 097 &amp; 098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5440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teaching courses only — project work, dissertation, internship &amp; hospital training excluded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programmes at a glance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3716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5E2A6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716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Public Health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A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097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6F2F8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" y="22860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74520" y="22860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999232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1ECF5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299923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874520" y="299923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/ public health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712464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6F2F8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" y="37124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874520" y="3712464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theory courses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4425696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1ECF5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" y="442569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874520" y="442569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 · 2 yrs FT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114800" y="13716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A81E56"/>
          </a:solidFill>
          <a:ln/>
        </p:spPr>
      </p:sp>
      <p:sp>
        <p:nvSpPr>
          <p:cNvPr id="20" name="Text 17"/>
          <p:cNvSpPr/>
          <p:nvPr/>
        </p:nvSpPr>
        <p:spPr>
          <a:xfrm>
            <a:off x="4251960" y="13716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Hospital Admin.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A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098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114800" y="2286000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6F2F8"/>
          </a:solidFill>
          <a:ln/>
        </p:spPr>
      </p:sp>
      <p:sp>
        <p:nvSpPr>
          <p:cNvPr id="22" name="Text 19"/>
          <p:cNvSpPr/>
          <p:nvPr/>
        </p:nvSpPr>
        <p:spPr>
          <a:xfrm>
            <a:off x="4224528" y="22860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0" y="22860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114800" y="2999232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1ECF5"/>
          </a:solidFill>
          <a:ln/>
        </p:spPr>
      </p:sp>
      <p:sp>
        <p:nvSpPr>
          <p:cNvPr id="25" name="Text 22"/>
          <p:cNvSpPr/>
          <p:nvPr/>
        </p:nvSpPr>
        <p:spPr>
          <a:xfrm>
            <a:off x="4224528" y="299923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0" y="299923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114800" y="3712464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6F2F8"/>
          </a:solidFill>
          <a:ln/>
        </p:spPr>
      </p:sp>
      <p:sp>
        <p:nvSpPr>
          <p:cNvPr id="28" name="Text 25"/>
          <p:cNvSpPr/>
          <p:nvPr/>
        </p:nvSpPr>
        <p:spPr>
          <a:xfrm>
            <a:off x="4224528" y="371246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0" y="3712464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13 theory courses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114800" y="4425696"/>
            <a:ext cx="3429000" cy="658368"/>
          </a:xfrm>
          <a:prstGeom prst="roundRect">
            <a:avLst>
              <a:gd name="adj" fmla="val 5556"/>
            </a:avLst>
          </a:prstGeom>
          <a:solidFill>
            <a:srgbClr val="F1ECF5"/>
          </a:solidFill>
          <a:ln/>
        </p:spPr>
      </p:sp>
      <p:sp>
        <p:nvSpPr>
          <p:cNvPr id="31" name="Text 28"/>
          <p:cNvSpPr/>
          <p:nvPr/>
        </p:nvSpPr>
        <p:spPr>
          <a:xfrm>
            <a:off x="4224528" y="442569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0" y="4425696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· 2 yrs FT</a:t>
            </a:r>
            <a:endParaRPr lang="en-US" sz="1250" dirty="0"/>
          </a:p>
        </p:txBody>
      </p:sp>
      <p:pic>
        <p:nvPicPr>
          <p:cNvPr id="33" name="Image 1" descr="/tmp/build/ig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4023360" cy="25609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 summary — 8 common teaching themes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pic>
        <p:nvPicPr>
          <p:cNvPr id="5" name="Image 1" descr="/tmp/build/ig_overl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8595360" cy="411521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464040" y="1417320"/>
            <a:ext cx="2286000" cy="4114800"/>
          </a:xfrm>
          <a:prstGeom prst="roundRect">
            <a:avLst>
              <a:gd name="adj" fmla="val 2400"/>
            </a:avLst>
          </a:prstGeom>
          <a:solidFill>
            <a:srgbClr val="F6F2F8"/>
          </a:solidFill>
          <a:ln/>
        </p:spPr>
      </p:sp>
      <p:sp>
        <p:nvSpPr>
          <p:cNvPr id="7" name="Text 3"/>
          <p:cNvSpPr/>
          <p:nvPr/>
        </p:nvSpPr>
        <p:spPr>
          <a:xfrm>
            <a:off x="960120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9601200" y="2057400"/>
            <a:ext cx="256032" cy="256032"/>
          </a:xfrm>
          <a:prstGeom prst="rect">
            <a:avLst/>
          </a:prstGeom>
          <a:solidFill>
            <a:srgbClr val="A81E56"/>
          </a:solidFill>
          <a:ln/>
        </p:spPr>
      </p:sp>
      <p:sp>
        <p:nvSpPr>
          <p:cNvPr id="9" name="Text 5"/>
          <p:cNvSpPr/>
          <p:nvPr/>
        </p:nvSpPr>
        <p:spPr>
          <a:xfrm>
            <a:off x="9921240" y="1984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601200" y="2834640"/>
            <a:ext cx="256032" cy="256032"/>
          </a:xfrm>
          <a:prstGeom prst="rect">
            <a:avLst/>
          </a:prstGeom>
          <a:solidFill>
            <a:srgbClr val="CD3B22"/>
          </a:solidFill>
          <a:ln/>
        </p:spPr>
      </p:sp>
      <p:sp>
        <p:nvSpPr>
          <p:cNvPr id="11" name="Text 7"/>
          <p:cNvSpPr/>
          <p:nvPr/>
        </p:nvSpPr>
        <p:spPr>
          <a:xfrm>
            <a:off x="9921240" y="27614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65–79%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601200" y="3611880"/>
            <a:ext cx="256032" cy="256032"/>
          </a:xfrm>
          <a:prstGeom prst="rect">
            <a:avLst/>
          </a:prstGeom>
          <a:solidFill>
            <a:srgbClr val="C77F2E"/>
          </a:solidFill>
          <a:ln/>
        </p:spPr>
      </p:sp>
      <p:sp>
        <p:nvSpPr>
          <p:cNvPr id="13" name="Text 9"/>
          <p:cNvSpPr/>
          <p:nvPr/>
        </p:nvSpPr>
        <p:spPr>
          <a:xfrm>
            <a:off x="9921240" y="3538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55–64%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601200" y="4389120"/>
            <a:ext cx="256032" cy="256032"/>
          </a:xfrm>
          <a:prstGeom prst="rect">
            <a:avLst/>
          </a:prstGeom>
          <a:solidFill>
            <a:srgbClr val="5E2A63"/>
          </a:solidFill>
          <a:ln/>
        </p:spPr>
      </p:sp>
      <p:sp>
        <p:nvSpPr>
          <p:cNvPr id="15" name="Text 11"/>
          <p:cNvSpPr/>
          <p:nvPr/>
        </p:nvSpPr>
        <p:spPr>
          <a:xfrm>
            <a:off x="9921240" y="4315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50%  </a:t>
            </a:r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overlaps — near-identical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3716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Management &amp; Leadership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17720" y="1554480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A81E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029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PHC504B  ·  </a:t>
            </a:r>
            <a:pPr indent="0" marL="0">
              <a:buNone/>
            </a:pPr>
            <a:r>
              <a:rPr lang="en-US" sz="14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HAC510C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organizational behaviour (structure, culture, climate, team dynamics, personality); management functions (planning, organizing, staffing, directing, coordinating …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137160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69880" y="1554480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A81E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2029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PHC505A  ·  </a:t>
            </a:r>
            <a:pPr indent="0" marL="0">
              <a:buNone/>
            </a:pPr>
            <a:r>
              <a:rPr lang="en-US" sz="14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HAC511C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2377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Definition/scope of statistics; data types &amp; scales of measurement; construction of scales; reliability &amp; validity; tabulation &amp; graphical presentation; descriptive statistics (central …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97764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17720" y="4160520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A81E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" y="46360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PHC508A  ·  </a:t>
            </a:r>
            <a:pPr indent="0" marL="0">
              <a:buNone/>
            </a:pPr>
            <a:r>
              <a:rPr lang="en-US" sz="14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HAC511C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49834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&amp; types of research; steps in conducting research; research problem, objectives &amp; hypothesis formulation; literature review; research methods &amp; methodology; sample size &amp; …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55080" y="397764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469880" y="4160520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A81E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0" y="46360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PHC503A  ·  </a:t>
            </a:r>
            <a:pPr indent="0" marL="0">
              <a:buNone/>
            </a:pPr>
            <a:r>
              <a:rPr lang="en-US" sz="14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HAC504C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83680" y="49834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epidemiology; measures of disease frequency &amp; association; study designs — ecological/geographical, case-control, cohort, intervention &amp; randomized controlled trials; random …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Management &amp; Leadership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66960" y="411480"/>
            <a:ext cx="1783080" cy="384048"/>
          </a:xfrm>
          <a:prstGeom prst="roundRect">
            <a:avLst>
              <a:gd name="adj" fmla="val 28571"/>
            </a:avLst>
          </a:prstGeom>
          <a:solidFill>
            <a:srgbClr val="A81E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Overlap: Very High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5532120" cy="731520"/>
          </a:xfrm>
          <a:prstGeom prst="roundRect">
            <a:avLst>
              <a:gd name="adj" fmla="val 7500"/>
            </a:avLst>
          </a:prstGeom>
          <a:solidFill>
            <a:srgbClr val="5E2A6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80160"/>
            <a:ext cx="5257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PHC504B — Healthcare Management and Leadership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72200" y="1280160"/>
            <a:ext cx="5532120" cy="731520"/>
          </a:xfrm>
          <a:prstGeom prst="roundRect">
            <a:avLst>
              <a:gd name="adj" fmla="val 7500"/>
            </a:avLst>
          </a:prstGeom>
          <a:solidFill>
            <a:srgbClr val="A81E56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1280160"/>
            <a:ext cx="5257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HAC510C — Healthcare Management and Leadership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content taught in BOTH programmes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" y="2651760"/>
            <a:ext cx="11201400" cy="2331720"/>
          </a:xfrm>
          <a:prstGeom prst="roundRect">
            <a:avLst>
              <a:gd name="adj" fmla="val 2353"/>
            </a:avLst>
          </a:prstGeom>
          <a:solidFill>
            <a:srgbClr val="F6F2F8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83464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organizational behaviour (structure, culture, climate, team dynamics, personality)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functions (planning, organizing, staffing, directing, coordinating, budgeting)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concepts, roles and traits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theories (Great Man, Trait, Contingency, Situational, Behavioural)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28346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theories (Maslow, Herzberg, intrinsic vs extrinsic)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models (Ruth-Seliger, Maxwell, Bagchi's platform vs purpose, sources of power)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management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challenges &amp; change management.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516636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F1ECF5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230368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 </a:t>
            </a:r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 frames delivery around public-health programmes/health systems; MHA frames the same content around hospital administration and the healthcare/VUCA context. Course titles are identical.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quantitative-methods core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 teaches Biostatistics and Research Methodology as two courses; MHA combines both into one.</a:t>
            </a:r>
            <a:endParaRPr lang="en-US" sz="1600" dirty="0"/>
          </a:p>
        </p:txBody>
      </p:sp>
      <p:pic>
        <p:nvPicPr>
          <p:cNvPr id="6" name="Image 1" descr="/tmp/build/ig_qu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9601200" cy="27751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475488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F6F2F8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48920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D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topics: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&amp; inferential statistics, sampling &amp; sample size, correlation &amp; regression, the research process, data collection and report writing.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D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common quantitative-methods module could serve both cohorts, with an added qualitative / mixed-methods tutorial for MPH.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Epidemiology &amp; health systems overlap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325880"/>
            <a:ext cx="5532120" cy="2377440"/>
          </a:xfrm>
          <a:prstGeom prst="roundRect">
            <a:avLst>
              <a:gd name="adj" fmla="val 2308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" y="146304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 (PHC503A ↔ HAC504C)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952" y="1947672"/>
            <a:ext cx="5074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designs: case-control, cohort, RCT, ecological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disease frequency &amp; association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confounding, effect modification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Validity, reliability &amp; screening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532120" cy="2377440"/>
          </a:xfrm>
          <a:prstGeom prst="roundRect">
            <a:avLst>
              <a:gd name="adj" fmla="val 2308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3368" y="146304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systems &amp; policy  (PHC502A ↔ HAC504C)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28232" y="1947672"/>
            <a:ext cx="5074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system in India: sub-centre → tertiary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programmes (NHM, RCH, UIP, RNTCP…)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policy &amp; five-year plans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agencies (WHO, UN, World Bank)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931920"/>
            <a:ext cx="11201400" cy="2148840"/>
          </a:xfrm>
          <a:prstGeom prst="roundRect">
            <a:avLst>
              <a:gd name="adj" fmla="val 2553"/>
            </a:avLst>
          </a:prstGeom>
          <a:solidFill>
            <a:srgbClr val="F1ECF5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D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the programmes diverge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77240" y="45262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 extends into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epidemiology — chronic, infectious, nutritional, environmental &amp; psychiatric.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 extends into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public-health administration — hospital roles across prevention levels, national programmes &amp; policy from an administrator's view.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Ethics, technology &amp; analytics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325880"/>
            <a:ext cx="5532120" cy="4709160"/>
          </a:xfrm>
          <a:prstGeom prst="roundRect">
            <a:avLst>
              <a:gd name="adj" fmla="val 1165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" y="146304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D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952" y="1947672"/>
            <a:ext cx="5074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MPH: PHC510A — Ethics in Public Health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MHA: HAC601C — Legal Aspects &amp; Ethics in Healthcare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ethical theory &amp; principles; quality, safety &amp; patient-care ethics; resource allocation; professional integrity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MPH is a stand-alone ethics course; MHA embeds ethics in a mainly legal / medico-legal course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532120" cy="4709160"/>
          </a:xfrm>
          <a:prstGeom prst="roundRect">
            <a:avLst>
              <a:gd name="adj" fmla="val 1165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3368" y="1463040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informatics &amp; analytics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28232" y="1947672"/>
            <a:ext cx="5074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MPH: PHC602A — Technology in Public Health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MHA: HAC602C — Healthcare Analytics &amp; OR (+ HAE605A, HAE607A)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health information systems; EHR/EMR; data-driven decisions; decision support; data security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MPH → standards (ICD, SNOMED), interoperability, HIM; MHA → business analytics &amp; operational research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Elective overlaps &amp; what stays unique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Electives on the same subject in both programmes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2724912" cy="1097280"/>
          </a:xfrm>
          <a:prstGeom prst="roundRect">
            <a:avLst>
              <a:gd name="adj" fmla="val 5000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73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practice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PHE602A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HAE610A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724912" cy="1097280"/>
          </a:xfrm>
          <a:prstGeom prst="roundRect">
            <a:avLst>
              <a:gd name="adj" fmla="val 5000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673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economics / financing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47472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Economics (MDEC elective)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HAE518A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2724912" cy="1097280"/>
          </a:xfrm>
          <a:prstGeom prst="roundRect">
            <a:avLst>
              <a:gd name="adj" fmla="val 5000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673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biostatistics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0936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PHC505A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HAE517A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06840" y="1600200"/>
            <a:ext cx="2724912" cy="1097280"/>
          </a:xfrm>
          <a:prstGeom prst="roundRect">
            <a:avLst>
              <a:gd name="adj" fmla="val 5000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0" y="1673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3B2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&amp; quality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14400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PHC510A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HAE514A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2971800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F1ECF5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to MPH — public health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8680" y="35661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&amp; Practice of Public Health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Priorities I &amp; II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Behaviour &amp; Health Promotion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Demography &amp; Population Sciences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172200" y="2971800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F6F2F8"/>
          </a:solidFill>
          <a:ln w="12700">
            <a:solidFill>
              <a:srgbClr val="E0D3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3108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to MHA — hospital administration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37960" y="356616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Financial Management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of Clinical &amp; Non-Clinical Services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Planning &amp; Designing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Management; Marketing; Legal aspects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ru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92608"/>
            <a:ext cx="1417320" cy="449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9692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2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classes — leaders &amp; subject experts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133856"/>
            <a:ext cx="11201400" cy="0"/>
          </a:xfrm>
          <a:prstGeom prst="line">
            <a:avLst/>
          </a:prstGeom>
          <a:noFill/>
          <a:ln w="28575">
            <a:solidFill>
              <a:srgbClr val="A81E5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88720"/>
            <a:ext cx="11201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courses can run as combined MPH + MHA classes, led internally or by an invited external subject expert.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97680"/>
                <a:gridCol w="37033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external subject expert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course leader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26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Management &amp; Leadership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hospital administrator / CEO; healthcare-leadership faculty from a business school; a management consultant in the health 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of Management &amp; Commerce (healthcare-management stream); Department of Hospital Administration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Biostatistics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Biostatistician from a public-health institute or ICMR centre; statistics faculty from a partner medical college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Biostatistics / Statistics faculty; Department of Community Medicine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Methodology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researcher from ICMR / a public-health foundation; research-methods trainer from a research institute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Public-health research faculty; University research-methodology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Epidemiology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epidemiologist (e.g., NIE / India EIS); Community Medicine faculty from a medical college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of Community Medicine (PSM); public-health / epidemiology faculty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Systems, Policy &amp; National Programmes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Health-policy specialist from a state health department, PHFI or a health-systems think-tank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Health-policy &amp; systems faculty; public-health 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Bioethicist from a bioethics centre; a medico-legal / health-law expert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Bioethics / medical-ethics faculty; Institutional Ethics Committee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Technology, Informatics &amp; Analytics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Health-informatics or health-data-analytics professional from the HealthTech industry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Health-informatics faculty; Department of Computer Science / Data Science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B22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Planning &amp; Implementation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evaluation (M&amp;E) specialist from an NGO / development / public-health programme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Public-health programme-management faculty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5105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Ramaiah University of Applied Sciences  ·  Faculty of Life &amp; Allied Health Sciences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 &amp;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7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91640" y="1463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courses are effectively identical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91640" y="184708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Management &amp; Leadership (PHC504B / HAC510C) — same units, theories and models, same title.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7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91640" y="2560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quantitative-methods core exists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94436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MPH Biostatistics + Research Methodology map almost completely onto MHA's combined HAC511C.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7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91640" y="3657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is a common foundation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91640" y="404164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designs, measures and biases are shared before the programmes diverge.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7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classes can use shared &amp; external experts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513892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common themes can run as combined classes led internally or by invited specialists.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989320"/>
            <a:ext cx="10972800" cy="566928"/>
          </a:xfrm>
          <a:prstGeom prst="roundRect">
            <a:avLst>
              <a:gd name="adj" fmla="val 8065"/>
            </a:avLst>
          </a:prstGeom>
          <a:solidFill>
            <a:srgbClr val="A81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98932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300" dirty="0">
                <a:solidFill>
                  <a:srgbClr val="F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quantitative-methods &amp; management modules, common foundational lectures, cross-listed electives, and a panel of internal + external experts for the common classes.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2026-08-23T11:40:49Z</dcterms:created>
  <dcterms:modified xsi:type="dcterms:W3CDTF">2026-08-23T11:40:49Z</dcterms:modified>
</cp:coreProperties>
</file>